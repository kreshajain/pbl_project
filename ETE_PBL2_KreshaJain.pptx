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80" r:id="rId4"/>
    <p:sldId id="262" r:id="rId5"/>
    <p:sldId id="273" r:id="rId6"/>
    <p:sldId id="282" r:id="rId7"/>
    <p:sldId id="274" r:id="rId8"/>
    <p:sldId id="275" r:id="rId9"/>
    <p:sldId id="283" r:id="rId10"/>
    <p:sldId id="276" r:id="rId11"/>
    <p:sldId id="281" r:id="rId12"/>
    <p:sldId id="277" r:id="rId13"/>
    <p:sldId id="278" r:id="rId14"/>
    <p:sldId id="279" r:id="rId15"/>
    <p:sldId id="284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3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quantum/concepts-grovers" TargetMode="External"/><Relationship Id="rId2" Type="http://schemas.openxmlformats.org/officeDocument/2006/relationships/hyperlink" Target="https://quantum-computing.ibm.com/docs/glossary/grover-algorithm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5304" y="2084586"/>
            <a:ext cx="9144000" cy="2402355"/>
          </a:xfrm>
        </p:spPr>
        <p:txBody>
          <a:bodyPr>
            <a:noAutofit/>
          </a:bodyPr>
          <a:lstStyle/>
          <a:p>
            <a:r>
              <a:rPr lang="en-US" sz="4400" b="1" dirty="0"/>
              <a:t>Grover's Algorithm – Quantum Search Demonstration </a:t>
            </a:r>
            <a:br>
              <a:rPr lang="en-US" sz="3600" b="1" dirty="0"/>
            </a:br>
            <a:r>
              <a:rPr lang="en-US" sz="3200" b="1" i="1" dirty="0"/>
              <a:t>Application to Anti-Cancer Drug Identification</a:t>
            </a:r>
            <a:endParaRPr lang="en-IN" sz="3600" b="1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5025682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b="1" dirty="0"/>
              <a:t>Kresha Vijay Jain</a:t>
            </a:r>
          </a:p>
          <a:p>
            <a:r>
              <a:rPr lang="en-IN" b="1" dirty="0"/>
              <a:t>2427030170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4" y="5143658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b="1" dirty="0" err="1"/>
              <a:t>Dr.Onkar</a:t>
            </a:r>
            <a:r>
              <a:rPr lang="en-IN" b="1" dirty="0"/>
              <a:t> Singh</a:t>
            </a:r>
          </a:p>
          <a:p>
            <a:endParaRPr lang="en-IN" dirty="0"/>
          </a:p>
        </p:txBody>
      </p:sp>
      <p:pic>
        <p:nvPicPr>
          <p:cNvPr id="8" name="Picture 7" descr="A black and white text  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Problem</a:t>
            </a:r>
            <a:r>
              <a:rPr lang="en-IN" dirty="0"/>
              <a:t> </a:t>
            </a:r>
            <a:r>
              <a:rPr lang="en-IN" b="1" dirty="0"/>
              <a:t>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3979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2400" dirty="0"/>
              <a:t>Classical sequential search over an unstructured pharmaceutical database of N compounds requires </a:t>
            </a:r>
            <a:r>
              <a:rPr lang="en-US" sz="2400" b="1" dirty="0"/>
              <a:t>O(N) oracle queries </a:t>
            </a:r>
            <a:r>
              <a:rPr lang="en-US" sz="2400" dirty="0"/>
              <a:t>to guarantee locating a target entry, and </a:t>
            </a:r>
            <a:r>
              <a:rPr lang="en-US" sz="2400" b="1" dirty="0"/>
              <a:t>O(N/2) queries on average</a:t>
            </a:r>
            <a:r>
              <a:rPr lang="en-US" sz="2400" dirty="0"/>
              <a:t>. At the scale of real-world virtual screening(millions of candidate molecules) this becomes a critical </a:t>
            </a:r>
            <a:r>
              <a:rPr lang="en-US" sz="2400" b="1" dirty="0"/>
              <a:t>computational bottleneck </a:t>
            </a:r>
            <a:r>
              <a:rPr lang="en-US" sz="2400" dirty="0"/>
              <a:t>for drug discovery pipelines.</a:t>
            </a:r>
          </a:p>
          <a:p>
            <a:pPr marL="0" indent="0" algn="just">
              <a:lnSpc>
                <a:spcPct val="130000"/>
              </a:lnSpc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1DFA4-B889-064D-7FE9-9D7E92460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EA97C9-7B9E-DBFF-CAA3-9917BA9EBD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1765498"/>
              </p:ext>
            </p:extLst>
          </p:nvPr>
        </p:nvGraphicFramePr>
        <p:xfrm>
          <a:off x="838201" y="2187042"/>
          <a:ext cx="10041082" cy="411480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703616">
                  <a:extLst>
                    <a:ext uri="{9D8B030D-6E8A-4147-A177-3AD203B41FA5}">
                      <a16:colId xmlns:a16="http://schemas.microsoft.com/office/drawing/2014/main" val="4256994172"/>
                    </a:ext>
                  </a:extLst>
                </a:gridCol>
                <a:gridCol w="2445822">
                  <a:extLst>
                    <a:ext uri="{9D8B030D-6E8A-4147-A177-3AD203B41FA5}">
                      <a16:colId xmlns:a16="http://schemas.microsoft.com/office/drawing/2014/main" val="2254933090"/>
                    </a:ext>
                  </a:extLst>
                </a:gridCol>
                <a:gridCol w="2445822">
                  <a:extLst>
                    <a:ext uri="{9D8B030D-6E8A-4147-A177-3AD203B41FA5}">
                      <a16:colId xmlns:a16="http://schemas.microsoft.com/office/drawing/2014/main" val="3476386550"/>
                    </a:ext>
                  </a:extLst>
                </a:gridCol>
                <a:gridCol w="2445822">
                  <a:extLst>
                    <a:ext uri="{9D8B030D-6E8A-4147-A177-3AD203B41FA5}">
                      <a16:colId xmlns:a16="http://schemas.microsoft.com/office/drawing/2014/main" val="26495115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bg1"/>
                          </a:solidFill>
                        </a:rPr>
                        <a:t>Author &amp; Year</a:t>
                      </a:r>
                      <a:endParaRPr 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bg1"/>
                          </a:solidFill>
                        </a:rPr>
                        <a:t>Methods Used</a:t>
                      </a:r>
                      <a:endParaRPr lang="en-US" sz="18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bg1"/>
                          </a:solidFill>
                        </a:rPr>
                        <a:t>Focus Area</a:t>
                      </a:r>
                      <a:endParaRPr lang="en-US" sz="1800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bg1"/>
                          </a:solidFill>
                        </a:rPr>
                        <a:t>Limitations</a:t>
                      </a:r>
                      <a:endParaRPr 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15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Grover (1996) [1]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</a:rPr>
                        <a:t>Amplitude amplification</a:t>
                      </a:r>
                      <a:endParaRPr 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</a:rPr>
                        <a:t>Quantum search</a:t>
                      </a:r>
                      <a:endParaRPr 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</a:rPr>
                        <a:t>Needs ideal conditions</a:t>
                      </a:r>
                      <a:endParaRPr 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651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Bennett et al. (1997) [2]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Complexity proof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</a:rPr>
                        <a:t>Optimality</a:t>
                      </a:r>
                      <a:endParaRPr 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</a:rPr>
                        <a:t>Theoretical only</a:t>
                      </a:r>
                      <a:endParaRPr 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8937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Nielsen &amp; Chuang (2010) [3]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</a:rPr>
                        <a:t>Geometric model</a:t>
                      </a:r>
                      <a:endParaRPr 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</a:rPr>
                        <a:t>Algorithm insight</a:t>
                      </a:r>
                      <a:endParaRPr 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</a:rPr>
                        <a:t>No experiments</a:t>
                      </a:r>
                      <a:endParaRPr 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9643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IBM Quantum (2024) [4]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</a:rPr>
                        <a:t>Qiskit simulation</a:t>
                      </a:r>
                      <a:endParaRPr 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</a:rPr>
                        <a:t>Implementation</a:t>
                      </a:r>
                      <a:endParaRPr 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</a:rPr>
                        <a:t>Hardware noise</a:t>
                      </a:r>
                      <a:endParaRPr 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3744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Stoudenmire (2024) [5]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Tensor networks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</a:rPr>
                        <a:t>State evolution</a:t>
                      </a:r>
                      <a:endParaRPr 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</a:rPr>
                        <a:t>High complexity</a:t>
                      </a:r>
                      <a:endParaRPr 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0524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 err="1">
                          <a:solidFill>
                            <a:schemeClr val="dk1"/>
                          </a:solidFill>
                        </a:rPr>
                        <a:t>AbuGhanem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 (2025) [6]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Error mitigation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Scalability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</a:rPr>
                        <a:t>NISQ limits</a:t>
                      </a:r>
                      <a:endParaRPr 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8985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Wheeler (2024) [7]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</a:rPr>
                        <a:t>Comparative study</a:t>
                      </a:r>
                      <a:endParaRPr 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</a:rPr>
                        <a:t>Grover vs classical</a:t>
                      </a:r>
                      <a:endParaRPr 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Assumption-based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4789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Mato et al. (2023) [8]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</a:rPr>
                        <a:t>Quantum search (molecules)</a:t>
                      </a:r>
                      <a:endParaRPr 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chemeClr val="dk1"/>
                          </a:solidFill>
                        </a:rPr>
                        <a:t>Healthcare use</a:t>
                      </a:r>
                      <a:endParaRPr 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Limited scope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2553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8872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Research Gap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B538438-2B17-CD61-533B-E9BEE670102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69818" y="1182378"/>
            <a:ext cx="9982200" cy="4804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studies focus on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theoretical aspects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Grover’s algorithm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work on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practical implementation using real-world datasets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between dataset, quantum circuit, and application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Few works analyze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factors together (speed, accuracy, energy, noise)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Minimal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experimental validation for healthcare/drug discovery use cases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research does not clearly show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small-scale working models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System Methodology - Dataset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775" y="2239799"/>
            <a:ext cx="10515600" cy="358194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/>
              <a:t>4-qubit quantum circuit built from scratch in </a:t>
            </a:r>
            <a:r>
              <a:rPr lang="en-US" sz="2400" b="1" dirty="0"/>
              <a:t>IBM Qiskit</a:t>
            </a:r>
            <a:r>
              <a:rPr lang="en-US" sz="2400" dirty="0"/>
              <a:t> — no pre-built Grover library functions used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/>
              <a:t>Database: </a:t>
            </a:r>
            <a:r>
              <a:rPr lang="en-US" sz="2400" b="1" dirty="0"/>
              <a:t>16 real pharmaceutical compounds</a:t>
            </a:r>
            <a:r>
              <a:rPr lang="en-US" sz="2400" dirty="0"/>
              <a:t> (PubChem-sourced) encoded as 4-bit binary states |0000⟩ to |1111⟩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/>
              <a:t>Target: </a:t>
            </a:r>
            <a:r>
              <a:rPr lang="en-US" sz="2400" b="1" dirty="0"/>
              <a:t>CompoundX-EGFR</a:t>
            </a:r>
            <a:r>
              <a:rPr lang="en-US" sz="2400" dirty="0"/>
              <a:t> — candidate EGFR inhibitor, anti-cancer drug at state |1011⟩ (index 11)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/>
              <a:t>Simulated on </a:t>
            </a:r>
            <a:r>
              <a:rPr lang="en-US" sz="2400" b="1" dirty="0"/>
              <a:t>AerSimulator</a:t>
            </a:r>
            <a:r>
              <a:rPr lang="en-US" sz="2400" dirty="0"/>
              <a:t> with 4,096 shots; noise model added separately to test real-hardware behaviour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7FB13FF-6DEA-7E52-37F0-66D290510D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2378377"/>
              </p:ext>
            </p:extLst>
          </p:nvPr>
        </p:nvGraphicFramePr>
        <p:xfrm>
          <a:off x="1122543" y="643466"/>
          <a:ext cx="9946915" cy="55710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7597">
                  <a:extLst>
                    <a:ext uri="{9D8B030D-6E8A-4147-A177-3AD203B41FA5}">
                      <a16:colId xmlns:a16="http://schemas.microsoft.com/office/drawing/2014/main" val="2365702398"/>
                    </a:ext>
                  </a:extLst>
                </a:gridCol>
                <a:gridCol w="1095140">
                  <a:extLst>
                    <a:ext uri="{9D8B030D-6E8A-4147-A177-3AD203B41FA5}">
                      <a16:colId xmlns:a16="http://schemas.microsoft.com/office/drawing/2014/main" val="4056265556"/>
                    </a:ext>
                  </a:extLst>
                </a:gridCol>
                <a:gridCol w="3154079">
                  <a:extLst>
                    <a:ext uri="{9D8B030D-6E8A-4147-A177-3AD203B41FA5}">
                      <a16:colId xmlns:a16="http://schemas.microsoft.com/office/drawing/2014/main" val="727944234"/>
                    </a:ext>
                  </a:extLst>
                </a:gridCol>
                <a:gridCol w="1916092">
                  <a:extLst>
                    <a:ext uri="{9D8B030D-6E8A-4147-A177-3AD203B41FA5}">
                      <a16:colId xmlns:a16="http://schemas.microsoft.com/office/drawing/2014/main" val="333841881"/>
                    </a:ext>
                  </a:extLst>
                </a:gridCol>
                <a:gridCol w="2634007">
                  <a:extLst>
                    <a:ext uri="{9D8B030D-6E8A-4147-A177-3AD203B41FA5}">
                      <a16:colId xmlns:a16="http://schemas.microsoft.com/office/drawing/2014/main" val="2348146560"/>
                    </a:ext>
                  </a:extLst>
                </a:gridCol>
              </a:tblGrid>
              <a:tr h="32771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State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Index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Compound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PubChem CID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Class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 anchor="ctr"/>
                </a:tc>
                <a:extLst>
                  <a:ext uri="{0D108BD9-81ED-4DB2-BD59-A6C34878D82A}">
                    <a16:rowId xmlns:a16="http://schemas.microsoft.com/office/drawing/2014/main" val="3421836782"/>
                  </a:ext>
                </a:extLst>
              </a:tr>
              <a:tr h="3277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|0000⟩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Aspirin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2244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Cardiovascular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extLst>
                  <a:ext uri="{0D108BD9-81ED-4DB2-BD59-A6C34878D82A}">
                    <a16:rowId xmlns:a16="http://schemas.microsoft.com/office/drawing/2014/main" val="4224941189"/>
                  </a:ext>
                </a:extLst>
              </a:tr>
              <a:tr h="3277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|0001⟩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Ibuprofen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3672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NSAID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extLst>
                  <a:ext uri="{0D108BD9-81ED-4DB2-BD59-A6C34878D82A}">
                    <a16:rowId xmlns:a16="http://schemas.microsoft.com/office/drawing/2014/main" val="56941606"/>
                  </a:ext>
                </a:extLst>
              </a:tr>
              <a:tr h="3277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|0010⟩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Metformin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4091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Diabetes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extLst>
                  <a:ext uri="{0D108BD9-81ED-4DB2-BD59-A6C34878D82A}">
                    <a16:rowId xmlns:a16="http://schemas.microsoft.com/office/drawing/2014/main" val="2120570544"/>
                  </a:ext>
                </a:extLst>
              </a:tr>
              <a:tr h="3277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|0011⟩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Atorvastatin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60754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Cardiovascular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extLst>
                  <a:ext uri="{0D108BD9-81ED-4DB2-BD59-A6C34878D82A}">
                    <a16:rowId xmlns:a16="http://schemas.microsoft.com/office/drawing/2014/main" val="2676047432"/>
                  </a:ext>
                </a:extLst>
              </a:tr>
              <a:tr h="3277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|0100⟩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Amoxicillin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33613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Antibiotic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extLst>
                  <a:ext uri="{0D108BD9-81ED-4DB2-BD59-A6C34878D82A}">
                    <a16:rowId xmlns:a16="http://schemas.microsoft.com/office/drawing/2014/main" val="3683228373"/>
                  </a:ext>
                </a:extLst>
              </a:tr>
              <a:tr h="3277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|0101⟩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Omeprazole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4594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Gastroenterology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extLst>
                  <a:ext uri="{0D108BD9-81ED-4DB2-BD59-A6C34878D82A}">
                    <a16:rowId xmlns:a16="http://schemas.microsoft.com/office/drawing/2014/main" val="2541464606"/>
                  </a:ext>
                </a:extLst>
              </a:tr>
              <a:tr h="3277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|0110⟩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Lisinopril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5462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Cardiovascular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extLst>
                  <a:ext uri="{0D108BD9-81ED-4DB2-BD59-A6C34878D82A}">
                    <a16:rowId xmlns:a16="http://schemas.microsoft.com/office/drawing/2014/main" val="340502978"/>
                  </a:ext>
                </a:extLst>
              </a:tr>
              <a:tr h="3277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|0111⟩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Sertraline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5288826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Neurology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extLst>
                  <a:ext uri="{0D108BD9-81ED-4DB2-BD59-A6C34878D82A}">
                    <a16:rowId xmlns:a16="http://schemas.microsoft.com/office/drawing/2014/main" val="769611521"/>
                  </a:ext>
                </a:extLst>
              </a:tr>
              <a:tr h="3277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|1000⟩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Ciprofloxacin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2764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Antibiotic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extLst>
                  <a:ext uri="{0D108BD9-81ED-4DB2-BD59-A6C34878D82A}">
                    <a16:rowId xmlns:a16="http://schemas.microsoft.com/office/drawing/2014/main" val="2677743076"/>
                  </a:ext>
                </a:extLst>
              </a:tr>
              <a:tr h="3277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|1001⟩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Amlodipine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2369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Cardiovascular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extLst>
                  <a:ext uri="{0D108BD9-81ED-4DB2-BD59-A6C34878D82A}">
                    <a16:rowId xmlns:a16="http://schemas.microsoft.com/office/drawing/2014/main" val="157321577"/>
                  </a:ext>
                </a:extLst>
              </a:tr>
              <a:tr h="3277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|1010⟩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Metoprolol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4171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Cardiovascular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extLst>
                  <a:ext uri="{0D108BD9-81ED-4DB2-BD59-A6C34878D82A}">
                    <a16:rowId xmlns:a16="http://schemas.microsoft.com/office/drawing/2014/main" val="1821583378"/>
                  </a:ext>
                </a:extLst>
              </a:tr>
              <a:tr h="3277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|1011⟩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11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CompoundX-EGFR (TARGET)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5330286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Oncology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extLst>
                  <a:ext uri="{0D108BD9-81ED-4DB2-BD59-A6C34878D82A}">
                    <a16:rowId xmlns:a16="http://schemas.microsoft.com/office/drawing/2014/main" val="3428422570"/>
                  </a:ext>
                </a:extLst>
              </a:tr>
              <a:tr h="3277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|1100⟩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Gabapentin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3446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Neurology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extLst>
                  <a:ext uri="{0D108BD9-81ED-4DB2-BD59-A6C34878D82A}">
                    <a16:rowId xmlns:a16="http://schemas.microsoft.com/office/drawing/2014/main" val="3500531718"/>
                  </a:ext>
                </a:extLst>
              </a:tr>
              <a:tr h="3277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|1101⟩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13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Pantoprazole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4679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Gastroenterology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extLst>
                  <a:ext uri="{0D108BD9-81ED-4DB2-BD59-A6C34878D82A}">
                    <a16:rowId xmlns:a16="http://schemas.microsoft.com/office/drawing/2014/main" val="900256033"/>
                  </a:ext>
                </a:extLst>
              </a:tr>
              <a:tr h="3277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|1110⟩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14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Losartan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3961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Cardiovascular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extLst>
                  <a:ext uri="{0D108BD9-81ED-4DB2-BD59-A6C34878D82A}">
                    <a16:rowId xmlns:a16="http://schemas.microsoft.com/office/drawing/2014/main" val="2176207956"/>
                  </a:ext>
                </a:extLst>
              </a:tr>
              <a:tr h="3277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</a:rPr>
                        <a:t>|1111⟩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15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Cetirizine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effectLst/>
                        </a:rPr>
                        <a:t>2678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effectLst/>
                        </a:rPr>
                        <a:t>Allergy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2587" marR="82587" marT="55058" marB="55058"/>
                </a:tc>
                <a:extLst>
                  <a:ext uri="{0D108BD9-81ED-4DB2-BD59-A6C34878D82A}">
                    <a16:rowId xmlns:a16="http://schemas.microsoft.com/office/drawing/2014/main" val="3102801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360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How Grover’s Algorithm Works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775" y="2239799"/>
            <a:ext cx="10515600" cy="358194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b="1" dirty="0"/>
              <a:t>Step 1 — Initialise:</a:t>
            </a:r>
            <a:r>
              <a:rPr lang="en-US" sz="2400" dirty="0"/>
              <a:t>  Apply Hadamard to all 4 qubits. All 16 states exist simultaneously with equal probability 6.25%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b="1" dirty="0"/>
              <a:t>Step 2 — Oracle:</a:t>
            </a:r>
            <a:r>
              <a:rPr lang="en-US" sz="2400" dirty="0"/>
              <a:t>  Phase-invert the target state |1011⟩ by −1. All other states are unchanged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b="1" dirty="0"/>
              <a:t>Step 3 — Diffusion:</a:t>
            </a:r>
            <a:r>
              <a:rPr lang="en-US" sz="2400" dirty="0"/>
              <a:t>  Reflect all amplitudes about their mean — target amplitude grows, others shrink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/>
              <a:t>Repeat Steps 2–3 for </a:t>
            </a:r>
            <a:r>
              <a:rPr lang="en-US" sz="2400" b="1" dirty="0"/>
              <a:t>k = 3 iterations</a:t>
            </a:r>
            <a:r>
              <a:rPr lang="en-US" sz="2400" dirty="0"/>
              <a:t>  (k = ⌊π/4 · √N⌋ = ⌊3.14⌋ = 3 for N = 16)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b="1" dirty="0"/>
              <a:t>Step 4 — Measure:</a:t>
            </a:r>
            <a:r>
              <a:rPr lang="en-US" sz="2400" dirty="0"/>
              <a:t>  Quantum state collapses. Target |1011⟩ is returned with </a:t>
            </a:r>
            <a:r>
              <a:rPr lang="en-US" sz="2400" b="1" dirty="0"/>
              <a:t>96.2% probability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Simulation Results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775" y="2239799"/>
            <a:ext cx="10515600" cy="358194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b="1" dirty="0"/>
              <a:t>k = 1 iteration:</a:t>
            </a:r>
            <a:r>
              <a:rPr lang="en-US" sz="2400" dirty="0"/>
              <a:t>  46.8% success  —  system still amplifying, below optimal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b="1" dirty="0"/>
              <a:t>k = 2 iterations:</a:t>
            </a:r>
            <a:r>
              <a:rPr lang="en-US" sz="2400" dirty="0"/>
              <a:t>  91.1% success  —  near-optimal but not maximum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b="1" dirty="0"/>
              <a:t>k = 3 iterations (optimal):</a:t>
            </a:r>
            <a:r>
              <a:rPr lang="en-US" sz="2400" dirty="0"/>
              <a:t>  96.2% success  —  3,940 of 4,096 shots returned |1011⟩. Matches theory: 96.1%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b="1" dirty="0"/>
              <a:t>k = 4 iterations:</a:t>
            </a:r>
            <a:r>
              <a:rPr lang="en-US" sz="2400" dirty="0"/>
              <a:t>  57.9% success  —  over-rotation. Amplitude rotates past the peak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b="1" dirty="0"/>
              <a:t>Classical search:</a:t>
            </a:r>
            <a:r>
              <a:rPr lang="en-US" sz="2400" dirty="0"/>
              <a:t>  Found the target at query 12 (average is 8, worst case is 16)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0BC233-B468-2E22-247E-2BA5A3714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4013"/>
          <a:stretch>
            <a:fillRect/>
          </a:stretch>
        </p:blipFill>
        <p:spPr>
          <a:xfrm>
            <a:off x="1349503" y="643466"/>
            <a:ext cx="949299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313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Five-Factor Comparison: Quantum vs Classical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775" y="2239799"/>
            <a:ext cx="10515600" cy="358194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b="1" dirty="0"/>
              <a:t>Speed:</a:t>
            </a:r>
            <a:r>
              <a:rPr lang="en-US" sz="2400" dirty="0"/>
              <a:t>  Quantum: 3 iterations  vs  Classical: 12 queries — </a:t>
            </a:r>
            <a:r>
              <a:rPr lang="en-US" sz="2400" b="1" dirty="0"/>
              <a:t>4× fewer oracle calls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b="1" dirty="0"/>
              <a:t>Accuracy at k = 3:</a:t>
            </a:r>
            <a:r>
              <a:rPr lang="en-US" sz="2400" dirty="0"/>
              <a:t>  Quantum 96.2%  vs  Classical 18.8% (if stopped at 3 queries) — </a:t>
            </a:r>
            <a:r>
              <a:rPr lang="en-US" sz="2400" b="1" dirty="0"/>
              <a:t>21× higher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b="1" dirty="0"/>
              <a:t>Energy:</a:t>
            </a:r>
            <a:r>
              <a:rPr lang="en-US" sz="2400" dirty="0"/>
              <a:t>  Classical more efficient at small N. Quantum advantage kicks in above </a:t>
            </a:r>
            <a:r>
              <a:rPr lang="en-US" sz="2400" b="1" dirty="0"/>
              <a:t>N ≈ 2,048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b="1" dirty="0"/>
              <a:t>Parallelism:</a:t>
            </a:r>
            <a:r>
              <a:rPr lang="en-US" sz="2400" dirty="0"/>
              <a:t>  Quantum holds all 16 states in superposition simultaneously — </a:t>
            </a:r>
            <a:r>
              <a:rPr lang="en-US" sz="2400" b="1" dirty="0"/>
              <a:t>16× inherent parallelism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b="1" dirty="0"/>
              <a:t>Noise tolerance:</a:t>
            </a:r>
            <a:r>
              <a:rPr lang="en-US" sz="2400" dirty="0"/>
              <a:t>  At 0% error: 96.8%.  At 1% gate error: 64.2%.  Classical is deterministic — unaffected by noise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overResults" descr="Six-panel simulation results" title="Grover Results">
            <a:extLst>
              <a:ext uri="{FF2B5EF4-FFF2-40B4-BE49-F238E27FC236}">
                <a16:creationId xmlns:a16="http://schemas.microsoft.com/office/drawing/2014/main" id="{CBFB7D18-22A3-4D86-2F0B-6E7FA53F35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933905" y="29598"/>
            <a:ext cx="7905584" cy="679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593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Scalability and Healthcare Impact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775" y="2065072"/>
            <a:ext cx="10515600" cy="393139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b="1" dirty="0"/>
              <a:t>N = 16 (this project):</a:t>
            </a:r>
            <a:r>
              <a:rPr lang="en-US" sz="2400" dirty="0"/>
              <a:t>  Classical 8 queries, Quantum 3 iterations — 2.7× speedup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b="1" dirty="0"/>
              <a:t>N = 1,000,000 (drug library):</a:t>
            </a:r>
            <a:r>
              <a:rPr lang="en-US" sz="2400" dirty="0"/>
              <a:t>  Classical 500,000 queries, Quantum 785 iterations  </a:t>
            </a:r>
            <a:r>
              <a:rPr lang="en-US" sz="2400" b="1" dirty="0"/>
              <a:t>637× speedup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b="1" dirty="0"/>
              <a:t>N = 3 billion (genomic DB):</a:t>
            </a:r>
            <a:r>
              <a:rPr lang="en-US" sz="2400" dirty="0"/>
              <a:t>  Quantum reduces to ≈43,000 iterations — </a:t>
            </a:r>
            <a:r>
              <a:rPr lang="en-US" sz="2400" b="1" dirty="0"/>
              <a:t>~34,680× speedup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/>
              <a:t>Pharmaceutical screening timelines compress from </a:t>
            </a:r>
            <a:r>
              <a:rPr lang="en-US" sz="2400" b="1" dirty="0"/>
              <a:t>weeks to hours</a:t>
            </a:r>
            <a:r>
              <a:rPr lang="en-US" sz="2400" dirty="0"/>
              <a:t> at quantum-mature hardware scale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/>
              <a:t>Speedup advantage is not fixed — it </a:t>
            </a:r>
            <a:r>
              <a:rPr lang="en-US" sz="2400" b="1" dirty="0"/>
              <a:t>grows with √N</a:t>
            </a:r>
            <a:r>
              <a:rPr lang="en-US" sz="2400" dirty="0"/>
              <a:t>, widening quadratically as database size increases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Limitations and Assessment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775" y="2239799"/>
            <a:ext cx="10515600" cy="358194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b="1" dirty="0"/>
              <a:t>Simulation only:</a:t>
            </a:r>
            <a:r>
              <a:rPr lang="en-US" sz="2400" dirty="0"/>
              <a:t>  AerSimulator has no noise or decoherence. Real IBM hardware at 1% gate error reduces success to 64.2%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b="1" dirty="0"/>
              <a:t>Oracle is hardcoded:</a:t>
            </a:r>
            <a:r>
              <a:rPr lang="en-US" sz="2400" dirty="0"/>
              <a:t>  A real drug-discovery oracle encoding binding affinity as quantum gates is an unsolved engineering problem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b="1" dirty="0"/>
              <a:t>Energy overhead at small N:</a:t>
            </a:r>
            <a:r>
              <a:rPr lang="en-US" sz="2400" dirty="0"/>
              <a:t>  60 gate-operations (quantum) vs 8 queries (classical) for N = 16. Quantum energy advantage requires N &gt; 2,048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b="1" dirty="0"/>
              <a:t>Scale constraint:</a:t>
            </a:r>
            <a:r>
              <a:rPr lang="en-US" sz="2400" dirty="0"/>
              <a:t>  Scaling to 20 qubits (N = 1M) needs 804 iterations with ~40 gates each — beyond current NISQ error budgets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 and Future Work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7775" y="1731136"/>
            <a:ext cx="10515600" cy="459927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just" fontAlgn="base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b="1" dirty="0"/>
              <a:t>96.2% success probability</a:t>
            </a:r>
            <a:r>
              <a:rPr lang="en-US" sz="2400" dirty="0"/>
              <a:t> achieved at the theoretically optimal </a:t>
            </a:r>
            <a:r>
              <a:rPr lang="en-US" sz="2400" b="1" dirty="0"/>
              <a:t>k = 3 iterations</a:t>
            </a:r>
            <a:r>
              <a:rPr lang="en-US" sz="2400" dirty="0"/>
              <a:t> for N = 16 matches the predicted 96.1%</a:t>
            </a:r>
          </a:p>
          <a:p>
            <a:pPr marL="228600" marR="0" lvl="0" indent="-228600" algn="just" fontAlgn="base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b="1" dirty="0"/>
              <a:t>Demonstrated 4× speed advantage and 21× accuracy advantage</a:t>
            </a:r>
            <a:r>
              <a:rPr lang="en-US" sz="2400" dirty="0"/>
              <a:t> over classical at equivalent evaluation count for this database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Scale system to </a:t>
            </a:r>
            <a:r>
              <a:rPr lang="en-US" altLang="en-US" sz="2400" b="1" dirty="0"/>
              <a:t>larger datasets </a:t>
            </a:r>
            <a:r>
              <a:rPr lang="en-US" altLang="en-US" sz="2400" dirty="0"/>
              <a:t>(6–8 qubits and beyond)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Use real molecular descriptors (e.g., </a:t>
            </a:r>
            <a:r>
              <a:rPr lang="en-US" altLang="en-US" sz="2400" b="1" dirty="0"/>
              <a:t>fingerprints</a:t>
            </a:r>
            <a:r>
              <a:rPr lang="en-US" altLang="en-US" sz="2400" dirty="0"/>
              <a:t>)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Extend to </a:t>
            </a:r>
            <a:r>
              <a:rPr lang="en-US" altLang="en-US" sz="2400" b="1" dirty="0"/>
              <a:t>multi-target search </a:t>
            </a:r>
            <a:r>
              <a:rPr lang="en-US" altLang="en-US" sz="2400" dirty="0"/>
              <a:t>problems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Apply error mitigation techniques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EB3B-9547-5245-681C-D3D31C49B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9779F-F125-5E84-7323-C08D0DD52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Grover, L.K. (1996). "A fast quantum mechanical algorithm for database search." Proceedings of the Twenty-Eighth Annual ACM Symposium on Theory of Computing, Philadelphia, PA, pp. 212–219.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Bennett, C.H., Bernstein, E., Brassard, G. and Vazirani, U. (1997). "Strengths and weaknesses of quantum computing." SIAM Journal on Computing, 26(5), pp. 1510–1523.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Nielsen, M.A. and Chuang, I.L. (2010). Quantum Computation and Quantum Information, 10th Anniversary Edition. Cambridge University Press, Cambridge.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IBM Quantum (2024). </a:t>
            </a:r>
            <a:r>
              <a:rPr lang="en-US" dirty="0" err="1"/>
              <a:t>Qiskit</a:t>
            </a:r>
            <a:r>
              <a:rPr lang="en-US" dirty="0"/>
              <a:t>: An Open-source Framework for Quantum Computing. Available at: https://qiskit.org (Accessed: April 2026).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Stoudenmire, E.M. (2024). "Opening the black box inside Grover's algorithm." Physical Review X, 14(4), 041017.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AbuGhanem</a:t>
            </a:r>
            <a:r>
              <a:rPr lang="en-US" dirty="0"/>
              <a:t>, M. (2025). "Characterizing Grover search algorithm on large-scale quantum computers." Nature, 593, pp. 123–129.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Wheeler, S. (2024). "Grover's algorithm versus binary search: efficiency for large unsorted datasets." Journal of Data Science and Artificial Intelligence, 6(1), pp. 14–28.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Mato, K., Mengoni, R., Ottaviani, D. and </a:t>
            </a:r>
            <a:r>
              <a:rPr lang="en-US" dirty="0" err="1"/>
              <a:t>Palittapongarnpim</a:t>
            </a:r>
            <a:r>
              <a:rPr lang="en-US" dirty="0"/>
              <a:t>, P. (2023). "Quantum-enhanced molecular screening for drug discovery." Quantum Science and Technology, 8(1), 015021.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IBM Quantum Experience. "Grover's Algorithm." </a:t>
            </a:r>
            <a:r>
              <a:rPr lang="en-US" dirty="0">
                <a:hlinkClick r:id="rId2"/>
              </a:rPr>
              <a:t>https://quantum-computing.ibm.com/docs/glossary/grover-algorithm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Microsoft Quantum Development Kit Documentation. "Grover's Search Algorithm." </a:t>
            </a:r>
            <a:r>
              <a:rPr lang="en-US" dirty="0">
                <a:hlinkClick r:id="rId3"/>
              </a:rPr>
              <a:t>https://learn.microsoft.com/en-us/azure/quantum/concepts-grovers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330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3495</TotalTime>
  <Words>1369</Words>
  <Application>Microsoft Office PowerPoint</Application>
  <PresentationFormat>Widescreen</PresentationFormat>
  <Paragraphs>191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Times New Roman</vt:lpstr>
      <vt:lpstr>Office Theme</vt:lpstr>
      <vt:lpstr>Grover's Algorithm – Quantum Search Demonstration  Application to Anti-Cancer Drug Identification</vt:lpstr>
      <vt:lpstr>Problem Statement</vt:lpstr>
      <vt:lpstr>Literature Review</vt:lpstr>
      <vt:lpstr>Research Gap</vt:lpstr>
      <vt:lpstr>System Methodology - Dataset</vt:lpstr>
      <vt:lpstr>PowerPoint Presentation</vt:lpstr>
      <vt:lpstr>How Grover’s Algorithm Works</vt:lpstr>
      <vt:lpstr>Simulation Results</vt:lpstr>
      <vt:lpstr>PowerPoint Presentation</vt:lpstr>
      <vt:lpstr>Five-Factor Comparison: Quantum vs Classical</vt:lpstr>
      <vt:lpstr>PowerPoint Presentation</vt:lpstr>
      <vt:lpstr>Scalability and Healthcare Impact</vt:lpstr>
      <vt:lpstr>Limitations and Assessment</vt:lpstr>
      <vt:lpstr>Conclusion and Future Work</vt:lpstr>
      <vt:lpstr>References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Kresha Vijay Jain [CSE - 2024]</cp:lastModifiedBy>
  <cp:revision>17</cp:revision>
  <cp:lastPrinted>2025-10-08T11:38:03Z</cp:lastPrinted>
  <dcterms:created xsi:type="dcterms:W3CDTF">2025-09-29T05:03:41Z</dcterms:created>
  <dcterms:modified xsi:type="dcterms:W3CDTF">2026-04-12T21:17:08Z</dcterms:modified>
</cp:coreProperties>
</file>