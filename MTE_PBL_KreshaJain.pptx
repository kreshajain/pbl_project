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66" r:id="rId5"/>
    <p:sldId id="262" r:id="rId6"/>
    <p:sldId id="261" r:id="rId7"/>
    <p:sldId id="267" r:id="rId8"/>
    <p:sldId id="268" r:id="rId9"/>
    <p:sldId id="269" r:id="rId10"/>
    <p:sldId id="270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quantum/concepts-grovers" TargetMode="External"/><Relationship Id="rId2" Type="http://schemas.openxmlformats.org/officeDocument/2006/relationships/hyperlink" Target="https://quantum-computing.ibm.com/docs/glossary/grover-algorith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913" y="2707764"/>
            <a:ext cx="9144000" cy="1779177"/>
          </a:xfrm>
        </p:spPr>
        <p:txBody>
          <a:bodyPr>
            <a:normAutofit/>
          </a:bodyPr>
          <a:lstStyle/>
          <a:p>
            <a:r>
              <a:rPr lang="en-IN" b="1" dirty="0"/>
              <a:t>Research On 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b="1" dirty="0"/>
              <a:t>Kresha Vijay Jain</a:t>
            </a:r>
          </a:p>
          <a:p>
            <a:r>
              <a:rPr lang="en-IN" b="1" dirty="0"/>
              <a:t>2427030170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b="1" dirty="0" err="1"/>
              <a:t>Dr.Onkar</a:t>
            </a:r>
            <a:r>
              <a:rPr lang="en-IN" b="1" dirty="0"/>
              <a:t> Singh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2D1D-9B08-DC4C-E6C9-C6CB0996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Exploring Quantum Algorithms for Efficient Computation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3A5D5B-FB99-71B3-6EC3-B42632FEA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775" y="2239799"/>
            <a:ext cx="10515600" cy="3581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Explore how quantum computing can </a:t>
            </a:r>
            <a:r>
              <a:rPr lang="en-US" altLang="en-US" sz="2800" b="1" dirty="0"/>
              <a:t>improve computational efficiency</a:t>
            </a:r>
            <a:r>
              <a:rPr lang="en-US" altLang="en-US" sz="2800" dirty="0"/>
              <a:t> compared to classical methods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 err="1"/>
              <a:t>Analyse</a:t>
            </a:r>
            <a:r>
              <a:rPr lang="en-US" sz="2800" dirty="0"/>
              <a:t> major quantum algorithms like </a:t>
            </a:r>
            <a:r>
              <a:rPr lang="en-US" sz="2800" b="1" dirty="0"/>
              <a:t>Grover’s search algorithm</a:t>
            </a:r>
            <a:r>
              <a:rPr lang="en-US" sz="2800" dirty="0"/>
              <a:t> and </a:t>
            </a:r>
            <a:r>
              <a:rPr lang="en-US" sz="2800" b="1" dirty="0"/>
              <a:t>Shor’s factoring algorithm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Examine theoretical performance advantages of quantum computation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/>
              <a:t>Study practical implementation feasibility using simulations or available platforms</a:t>
            </a:r>
          </a:p>
        </p:txBody>
      </p:sp>
    </p:spTree>
    <p:extLst>
      <p:ext uri="{BB962C8B-B14F-4D97-AF65-F5344CB8AC3E}">
        <p14:creationId xmlns:p14="http://schemas.microsoft.com/office/powerpoint/2010/main" val="424333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Problem</a:t>
            </a:r>
            <a:r>
              <a:rPr lang="en-IN" dirty="0"/>
              <a:t> </a:t>
            </a:r>
            <a:r>
              <a:rPr lang="en-IN" b="1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30000"/>
              </a:lnSpc>
              <a:buNone/>
            </a:pPr>
            <a:endParaRPr lang="en-US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dirty="0"/>
              <a:t>Classical computers process data sequentially, making tasks like </a:t>
            </a:r>
            <a:r>
              <a:rPr lang="en-US" b="1" dirty="0"/>
              <a:t>unstructured search slower </a:t>
            </a:r>
            <a:r>
              <a:rPr lang="en-US" dirty="0"/>
              <a:t>as data grows. Quantum computing uses </a:t>
            </a:r>
            <a:r>
              <a:rPr lang="en-US" b="1" dirty="0"/>
              <a:t>qubits</a:t>
            </a:r>
            <a:r>
              <a:rPr lang="en-US" dirty="0"/>
              <a:t> and superposition to achieve faster computation, but practical use is still limited by hardware challenges and scalability issues.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FCD13-62A9-7D32-5B79-5A59AD7E8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52" y="158683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5A4B-677D-B9CE-2A3C-9AD7011CF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AC9397-37E6-8653-9DA6-C0F242500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51113"/>
              </p:ext>
            </p:extLst>
          </p:nvPr>
        </p:nvGraphicFramePr>
        <p:xfrm>
          <a:off x="660952" y="1351748"/>
          <a:ext cx="10724324" cy="53707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81081">
                  <a:extLst>
                    <a:ext uri="{9D8B030D-6E8A-4147-A177-3AD203B41FA5}">
                      <a16:colId xmlns:a16="http://schemas.microsoft.com/office/drawing/2014/main" val="4152235983"/>
                    </a:ext>
                  </a:extLst>
                </a:gridCol>
                <a:gridCol w="2681081">
                  <a:extLst>
                    <a:ext uri="{9D8B030D-6E8A-4147-A177-3AD203B41FA5}">
                      <a16:colId xmlns:a16="http://schemas.microsoft.com/office/drawing/2014/main" val="1183435380"/>
                    </a:ext>
                  </a:extLst>
                </a:gridCol>
                <a:gridCol w="2681081">
                  <a:extLst>
                    <a:ext uri="{9D8B030D-6E8A-4147-A177-3AD203B41FA5}">
                      <a16:colId xmlns:a16="http://schemas.microsoft.com/office/drawing/2014/main" val="1535232376"/>
                    </a:ext>
                  </a:extLst>
                </a:gridCol>
                <a:gridCol w="2681081">
                  <a:extLst>
                    <a:ext uri="{9D8B030D-6E8A-4147-A177-3AD203B41FA5}">
                      <a16:colId xmlns:a16="http://schemas.microsoft.com/office/drawing/2014/main" val="1368154272"/>
                    </a:ext>
                  </a:extLst>
                </a:gridCol>
              </a:tblGrid>
              <a:tr h="524443">
                <a:tc>
                  <a:txBody>
                    <a:bodyPr/>
                    <a:lstStyle/>
                    <a:p>
                      <a:r>
                        <a:rPr lang="en-US" dirty="0"/>
                        <a:t>Author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Focus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99614"/>
                  </a:ext>
                </a:extLst>
              </a:tr>
              <a:tr h="524443">
                <a:tc>
                  <a:txBody>
                    <a:bodyPr/>
                    <a:lstStyle/>
                    <a:p>
                      <a:r>
                        <a:rPr lang="en-US" dirty="0"/>
                        <a:t>Lov </a:t>
                      </a:r>
                      <a:r>
                        <a:rPr lang="en-US" dirty="0" err="1"/>
                        <a:t>K.Grover</a:t>
                      </a:r>
                      <a:r>
                        <a:rPr lang="en-US" dirty="0"/>
                        <a:t>(1996)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Quantum 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Unstructured database search; quadratic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ideal quantum conditions and a known number of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612159"/>
                  </a:ext>
                </a:extLst>
              </a:tr>
              <a:tr h="524443">
                <a:tc>
                  <a:txBody>
                    <a:bodyPr/>
                    <a:lstStyle/>
                    <a:p>
                      <a:r>
                        <a:rPr lang="en-US" dirty="0"/>
                        <a:t>Lov </a:t>
                      </a:r>
                      <a:r>
                        <a:rPr lang="en-US" dirty="0" err="1"/>
                        <a:t>K.Grover</a:t>
                      </a:r>
                      <a:r>
                        <a:rPr lang="en-US" dirty="0"/>
                        <a:t>(1997)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Amplitude amplification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formulation for multiple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Sensitive to errors; practical implementation is challenging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68732"/>
                  </a:ext>
                </a:extLst>
              </a:tr>
              <a:tr h="524443">
                <a:tc>
                  <a:txBody>
                    <a:bodyPr/>
                    <a:lstStyle/>
                    <a:p>
                      <a:r>
                        <a:rPr lang="fr-FR" dirty="0"/>
                        <a:t>Gilles Brassard et al. (2002)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Generalized amplitude amplification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Extending Grover’s algorithm to broader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Increased complexity in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09435"/>
                  </a:ext>
                </a:extLst>
              </a:tr>
              <a:tr h="524443">
                <a:tc>
                  <a:txBody>
                    <a:bodyPr/>
                    <a:lstStyle/>
                    <a:p>
                      <a:r>
                        <a:rPr lang="en-US" dirty="0"/>
                        <a:t>Michele Mosca (2008)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Quantum search framework and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Applications in cryptography and computational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Scalability issues with current quantum 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01537"/>
                  </a:ext>
                </a:extLst>
              </a:tr>
              <a:tr h="524443">
                <a:tc>
                  <a:txBody>
                    <a:bodyPr/>
                    <a:lstStyle/>
                    <a:p>
                      <a:r>
                        <a:rPr lang="en-US" dirty="0"/>
                        <a:t>Scott Aaronson (2015)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 theory and lower bounds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Theoretical limits of Grover’s 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that Grover’s algorithm offers only quadratic (not exponential) speedup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218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302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Research Gap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DE56F4-F0EA-18E7-E354-BC70BCA90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224" y="1774003"/>
            <a:ext cx="10605576" cy="456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/>
              <a:t>Most existing quantum computing research focuses either on pure theory or highly technical hardware development.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/>
              <a:t>There is less emphasis on understanding how key algorithms like Grover’s and Shor’s perform in realistic, practical scenarios.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/>
              <a:t>This study brings those aspects together by </a:t>
            </a:r>
            <a:r>
              <a:rPr lang="en-US" altLang="en-US" sz="2600" dirty="0" err="1"/>
              <a:t>analysing</a:t>
            </a:r>
            <a:r>
              <a:rPr lang="en-US" altLang="en-US" sz="2600" dirty="0"/>
              <a:t> algorithm </a:t>
            </a:r>
            <a:r>
              <a:rPr lang="en-US" altLang="en-US" sz="2600" dirty="0" err="1"/>
              <a:t>behaviour</a:t>
            </a:r>
            <a:r>
              <a:rPr lang="en-US" altLang="en-US" sz="2600" dirty="0"/>
              <a:t> through simulations while also discussing real-world feasibility.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/>
              <a:t>It helps bridge the gap between theoretical potential and practical application.</a:t>
            </a:r>
          </a:p>
          <a:p>
            <a:pPr marL="228600" marR="0" lvl="0" indent="-228600" algn="just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600" dirty="0"/>
              <a:t>The aim is to provide a clearer perspective on how quantum algorithms could realistically be adopted in future computing systems.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Methodology -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157"/>
            <a:ext cx="10515600" cy="3538329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Quantum search problems modelled as </a:t>
            </a:r>
            <a:r>
              <a:rPr lang="en-US" b="1" dirty="0"/>
              <a:t>unstructured datasets </a:t>
            </a:r>
            <a:r>
              <a:rPr lang="en-US" dirty="0"/>
              <a:t>to study algorithm performance under realistic computational conditions</a:t>
            </a:r>
          </a:p>
          <a:p>
            <a:pPr algn="just"/>
            <a:r>
              <a:rPr lang="en-US" dirty="0"/>
              <a:t>Small-scale problem instances selected to match current quantum simulation capabilities and hardware constraints</a:t>
            </a:r>
          </a:p>
          <a:p>
            <a:pPr algn="just"/>
            <a:r>
              <a:rPr lang="en-US" dirty="0"/>
              <a:t>Preprocessing and circuit design performed using quantum development frameworks such as </a:t>
            </a:r>
            <a:r>
              <a:rPr lang="en-US" b="1" dirty="0" err="1"/>
              <a:t>Qiskit</a:t>
            </a:r>
            <a:r>
              <a:rPr lang="en-US" dirty="0"/>
              <a:t> to ensure consistency with existing quantum research practices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9F05-84F2-566F-C0CB-F1193D72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Methodology -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C0FEA-686A-8827-8F3E-3AC5E9192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3653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Implementation and analysis of Grover’s quantum search algorithm as a representative quantum speedup technique</a:t>
            </a:r>
          </a:p>
          <a:p>
            <a:pPr algn="just"/>
            <a:r>
              <a:rPr lang="en-US" dirty="0"/>
              <a:t>Construction of quantum oracle functions to encode problem-specific target states within the quantum circuit</a:t>
            </a:r>
          </a:p>
          <a:p>
            <a:pPr algn="just"/>
            <a:r>
              <a:rPr lang="en-US" dirty="0"/>
              <a:t>Use of amplitude amplification (diffusion operator) to enhance probability of correct outcomes</a:t>
            </a:r>
          </a:p>
          <a:p>
            <a:pPr algn="just"/>
            <a:r>
              <a:rPr lang="en-US" dirty="0"/>
              <a:t>Circuit modelling and simulation to observe algorithm </a:t>
            </a:r>
            <a:r>
              <a:rPr lang="en-US" dirty="0" err="1"/>
              <a:t>behaviour</a:t>
            </a:r>
            <a:r>
              <a:rPr lang="en-US" dirty="0"/>
              <a:t> under realistic noise and execution conditions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1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921A-A00E-F9EA-0D0F-4DA793C8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System Methodology - Live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0050-C2F1-9200-E99E-2D6A54CAA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Experiments conducted using </a:t>
            </a:r>
            <a:r>
              <a:rPr lang="en-US" b="1" dirty="0"/>
              <a:t>IBM Quantum Experience simulators and cloud-access quantum backends</a:t>
            </a:r>
            <a:endParaRPr lang="en-US" dirty="0"/>
          </a:p>
          <a:p>
            <a:r>
              <a:rPr lang="en-US" dirty="0"/>
              <a:t>Results compared with classical search </a:t>
            </a:r>
            <a:r>
              <a:rPr lang="en-US" dirty="0" err="1"/>
              <a:t>behaviour</a:t>
            </a:r>
            <a:r>
              <a:rPr lang="en-US" dirty="0"/>
              <a:t> to assess computational advantage</a:t>
            </a:r>
          </a:p>
          <a:p>
            <a:r>
              <a:rPr lang="en-US" dirty="0"/>
              <a:t>Measurement distributions </a:t>
            </a:r>
            <a:r>
              <a:rPr lang="en-US" dirty="0" err="1"/>
              <a:t>analysed</a:t>
            </a:r>
            <a:r>
              <a:rPr lang="en-US" dirty="0"/>
              <a:t> to understand noise effects, accuracy, and hardware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640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26AD-711D-941B-7395-5A38EA1F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Result and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92C99B-7DED-A1EB-DC9F-B2ABE5E34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90688"/>
            <a:ext cx="10515599" cy="492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Grover’s algorithm simulations on </a:t>
            </a:r>
            <a:r>
              <a:rPr lang="en-US" altLang="en-US" sz="2400" b="1" dirty="0"/>
              <a:t>IBM </a:t>
            </a:r>
            <a:r>
              <a:rPr lang="en-US" altLang="en-US" sz="2400" b="1" dirty="0" err="1"/>
              <a:t>Qiskit</a:t>
            </a:r>
            <a:r>
              <a:rPr lang="en-US" altLang="en-US" sz="2400" b="1" dirty="0"/>
              <a:t> </a:t>
            </a:r>
            <a:r>
              <a:rPr lang="en-US" altLang="en-US" sz="2400" dirty="0"/>
              <a:t>showed a noticeable increase in correct state probability after successive amplitude amplification iterations.</a:t>
            </a:r>
          </a:p>
          <a:p>
            <a:pPr marR="0" lvl="0" algn="just" fontAlgn="base"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Compared to classical linear search, the algorithm demonstrated the expected quadratic improvement in query efficiency, especially visible even in small-scale simulated datasets.</a:t>
            </a:r>
          </a:p>
          <a:p>
            <a:pPr marR="0" lvl="0" algn="just" fontAlgn="base"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Execution on </a:t>
            </a:r>
            <a:r>
              <a:rPr lang="en-US" altLang="en-US" sz="2400" b="1" dirty="0"/>
              <a:t>IBM Quantum simulators </a:t>
            </a:r>
            <a:r>
              <a:rPr lang="en-US" altLang="en-US" sz="2400" dirty="0"/>
              <a:t>highlighted practical constraints such as circuit depth limits, noise sensitivity, and measurement variability.</a:t>
            </a:r>
          </a:p>
          <a:p>
            <a:pPr marR="0" lvl="0" algn="just" fontAlgn="base"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Results confirm theoretical complexity reduction from </a:t>
            </a:r>
            <a:r>
              <a:rPr lang="en-US" altLang="en-US" sz="2400" b="1" dirty="0"/>
              <a:t>classical O(N) search </a:t>
            </a:r>
            <a:r>
              <a:rPr lang="en-US" altLang="en-US" sz="2400" dirty="0"/>
              <a:t>to approximately </a:t>
            </a:r>
            <a:r>
              <a:rPr lang="en-US" altLang="en-US" sz="2400" b="1" dirty="0"/>
              <a:t>O(√N) in quantum search scenarios</a:t>
            </a:r>
            <a:r>
              <a:rPr lang="en-US" altLang="en-US" sz="2400" dirty="0"/>
              <a:t>.</a:t>
            </a:r>
          </a:p>
          <a:p>
            <a:pPr marR="0" lvl="0" algn="just" fontAlgn="base"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These observations support the potential of quantum algorithms while also emphasizing current hardware limitations in achieving consistent large-scale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2730540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B40B-E342-6D3B-15DF-25CF3DAD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Future Aspects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AA11B-75B6-9D82-F062-6C0BC05D8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2582"/>
            <a:ext cx="10515600" cy="4351338"/>
          </a:xfrm>
        </p:spPr>
        <p:txBody>
          <a:bodyPr/>
          <a:lstStyle/>
          <a:p>
            <a:r>
              <a:rPr lang="en-US" dirty="0"/>
              <a:t>Quantum Computing in Healthcare</a:t>
            </a:r>
          </a:p>
          <a:p>
            <a:r>
              <a:rPr lang="en-US" dirty="0"/>
              <a:t>Growing impact on cryptography and cybersecurity</a:t>
            </a:r>
          </a:p>
          <a:p>
            <a:r>
              <a:rPr lang="en-US" dirty="0"/>
              <a:t>Potential use in large-scale optimization problems</a:t>
            </a:r>
          </a:p>
          <a:p>
            <a:r>
              <a:rPr lang="en-US" dirty="0"/>
              <a:t>Ongoing advancements in quantum hardware and error correction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0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Grover, L. K. (1996). A fast quantum mechanical algorithm for database search. Proceedings of the Twenty-Eighth Annual ACM Symposium on Theory of Computing.</a:t>
            </a:r>
          </a:p>
          <a:p>
            <a:r>
              <a:rPr lang="en-US" dirty="0"/>
              <a:t>Nielsen, M. A., &amp; Chuang, I. L. (2010). Quantum Computation and Quantum Information.</a:t>
            </a:r>
          </a:p>
          <a:p>
            <a:r>
              <a:rPr lang="en-US" dirty="0"/>
              <a:t>IBM Quantum Experience. "Grover's Algorithm." </a:t>
            </a:r>
            <a:r>
              <a:rPr lang="en-US" dirty="0">
                <a:hlinkClick r:id="rId2"/>
              </a:rPr>
              <a:t>https://quantum-computing.ibm.com/docs/glossary/grover-algorithm</a:t>
            </a:r>
            <a:endParaRPr lang="en-US" dirty="0"/>
          </a:p>
          <a:p>
            <a:r>
              <a:rPr lang="en-US" dirty="0"/>
              <a:t>Microsoft Quantum Development Kit Documentation. "Grover's Search Algorithm." </a:t>
            </a:r>
            <a:r>
              <a:rPr lang="en-US" dirty="0">
                <a:hlinkClick r:id="rId3"/>
              </a:rPr>
              <a:t>https://learn.microsoft.com/en-us/azure/quantum/concepts-grovers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730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Research On Quantum Computing</vt:lpstr>
      <vt:lpstr>Exploring Quantum Algorithms for Efficient Computation</vt:lpstr>
      <vt:lpstr>Problem Statement</vt:lpstr>
      <vt:lpstr>Literature Review</vt:lpstr>
      <vt:lpstr>Research Gap</vt:lpstr>
      <vt:lpstr>System Methodology - Dataset </vt:lpstr>
      <vt:lpstr>System Methodology - Model</vt:lpstr>
      <vt:lpstr>System Methodology - Live Execution</vt:lpstr>
      <vt:lpstr>Result and Analysis</vt:lpstr>
      <vt:lpstr>Future Aspects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Kresha Vijay Jain [CSE - 2024]</cp:lastModifiedBy>
  <cp:revision>13</cp:revision>
  <cp:lastPrinted>2025-10-08T11:38:03Z</cp:lastPrinted>
  <dcterms:created xsi:type="dcterms:W3CDTF">2025-09-29T05:03:41Z</dcterms:created>
  <dcterms:modified xsi:type="dcterms:W3CDTF">2026-02-13T19:49:58Z</dcterms:modified>
</cp:coreProperties>
</file>